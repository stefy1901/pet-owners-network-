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91AD"/>
    <a:srgbClr val="80360F"/>
    <a:srgbClr val="A96132"/>
    <a:srgbClr val="CF9562"/>
    <a:srgbClr val="D39965"/>
    <a:srgbClr val="D3C8D3"/>
    <a:srgbClr val="FFF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4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D2962-2A2E-8B64-D990-D6CEB75EB8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0EF6ED-13F2-1FF2-BFC3-02936BAEC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2DEF4-1D57-FD7D-F39B-432E461B9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DD16E-4BEE-4B18-A0CC-4765B55935C4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9A386-E222-D5D1-F0A6-04C984BFC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2B015-3838-BA77-759B-FF25DD7A8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B437-7E16-4180-80C5-3DB91B47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610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EA5AD-EB6C-6703-F9EB-FF0A75419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C6ED9-FC43-30B5-5545-6049B1D0F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9C267-EACF-FDBC-62CF-CA4262732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DD16E-4BEE-4B18-A0CC-4765B55935C4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BDB0B-16F9-75E2-D7E0-150B6C80A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0B3AC-40E3-7CCA-CA07-8E3B5E983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B437-7E16-4180-80C5-3DB91B47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8565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1C112-58B4-F01F-408E-102EDF095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27A91-9EE8-34DF-5BF7-2E639CC1C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75DA-7B1F-C3EA-313E-D69F57160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DD16E-4BEE-4B18-A0CC-4765B55935C4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F4345-EA09-6C5C-A160-C80969B7C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420A2-7384-D625-BFA1-FF2FED770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B437-7E16-4180-80C5-3DB91B47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96753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1705E-CE9A-8451-7D96-24ABB9E46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9A377-6E56-C489-FF4F-869E9A60F2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F45D94-F6F4-4635-5A15-832B6A8A9B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67BCE-70FE-D94F-B0E5-CF431B095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DD16E-4BEE-4B18-A0CC-4765B55935C4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16C7F2-CEB8-B5AA-29DF-6DDE76503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3C96B-F085-0735-23D5-358E7696A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B437-7E16-4180-80C5-3DB91B47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70538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73F7B-C97C-3BF9-EB87-11B1D85F3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AAFBA-28CD-0DE6-88A9-AC015F63D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162BDD-5AE1-5253-46F4-77435BF8B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EE1B5F-F633-8CF6-776C-7160098F91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395F0B-6C8D-05D1-ABC0-1D151CD471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B7A664-67C7-BBEC-2047-ACFD148BC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DD16E-4BEE-4B18-A0CC-4765B55935C4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42F976-BB52-B494-718D-CD4BEEC97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DCD230-4BDA-5007-4073-61041BE7E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B437-7E16-4180-80C5-3DB91B47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30928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A7E83-3592-F62C-7B3B-DECB8CE06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03CB6E-229D-FFEB-E432-8CB833DAD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DD16E-4BEE-4B18-A0CC-4765B55935C4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501E2-C3E3-6F80-68E8-72773A699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7D2DFD-7370-9728-0A07-6461BFB5F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B437-7E16-4180-80C5-3DB91B47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4831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60B13C-6C4F-2E3C-60A3-01DA62BA7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DD16E-4BEE-4B18-A0CC-4765B55935C4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D7D5D8-C48B-FE7E-AD37-14FE2398A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60E4A-3941-7D58-08B2-1ADFF2782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B437-7E16-4180-80C5-3DB91B47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8534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3D7C-F25F-DEA9-8948-2075C7C63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344A6-A5E1-1CD4-958B-3481473FD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A129E4-8F0F-77CA-570A-494D23683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A0C6F-A3A2-64CA-63F3-086C3EBA8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DD16E-4BEE-4B18-A0CC-4765B55935C4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227EA-8EF5-AABB-8F0C-2A7ED2D67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4CBD7-C0DC-A37A-68B8-363487185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B437-7E16-4180-80C5-3DB91B47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13702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86B3A-6218-E5A2-9838-6E656F2A5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41D2EB-5B3E-D594-E5D4-2C75792245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2B73E6-53D9-73DC-3016-B0B8A2D94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FF736-7E81-FCBE-177F-84A3CF8F1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DD16E-4BEE-4B18-A0CC-4765B55935C4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1946D9-F4B3-8AB1-1AC4-6CF997B95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959075-FB1E-B9C3-09E9-BB597E4D0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B437-7E16-4180-80C5-3DB91B47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9963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5DAB0-0393-7609-9533-D654808E5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926802-EE14-7622-5B4B-CBD414DDB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58B8D-504B-3644-E575-85664297C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DD16E-4BEE-4B18-A0CC-4765B55935C4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270D5-3BB4-B1B3-FC58-5B7FF4B66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4925E-3E46-A3E2-FAAE-2E3105C9F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B437-7E16-4180-80C5-3DB91B47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26805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B40749-D70B-853E-8B23-C24577E695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67CB08-4087-554F-E94E-B98B6C98A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C9A10-3097-E2F4-AFFF-EDFFF4434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DD16E-4BEE-4B18-A0CC-4765B55935C4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1450-A061-9386-A259-817AD7BE8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3510F-F0CB-807A-3F28-B7C03610D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B437-7E16-4180-80C5-3DB91B47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4210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792F8E-0038-EF7C-1149-8382E0CFB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3213D-2C65-2544-2327-B193AF8FB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96891-ACDE-714B-2D5A-15D2E99758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4DD16E-4BEE-4B18-A0CC-4765B55935C4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FDB25-E840-C08D-9189-7D7AA5E9DE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F85EC-B844-7DAA-1455-40D53795FF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4B437-7E16-4180-80C5-3DB91B47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8584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B1D59-EC11-B4CD-01AA-9ED5745B7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6933" y="0"/>
            <a:ext cx="5825067" cy="969963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Pet Connect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CEC0EA-BEE2-3A97-F38A-9F30035B2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85800" y="6404505"/>
            <a:ext cx="9144000" cy="453495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Made by Cercel Stefania Bianca and Jurca Alexandra Cristina</a:t>
            </a:r>
          </a:p>
        </p:txBody>
      </p:sp>
    </p:spTree>
    <p:extLst>
      <p:ext uri="{BB962C8B-B14F-4D97-AF65-F5344CB8AC3E}">
        <p14:creationId xmlns:p14="http://schemas.microsoft.com/office/powerpoint/2010/main" val="39168653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>
            <a:extLst>
              <a:ext uri="{FF2B5EF4-FFF2-40B4-BE49-F238E27FC236}">
                <a16:creationId xmlns:a16="http://schemas.microsoft.com/office/drawing/2014/main" id="{8D6743B5-9C42-FD12-DC28-405295F8B6CE}"/>
              </a:ext>
            </a:extLst>
          </p:cNvPr>
          <p:cNvSpPr/>
          <p:nvPr/>
        </p:nvSpPr>
        <p:spPr>
          <a:xfrm rot="10800000" flipH="1">
            <a:off x="-33867" y="0"/>
            <a:ext cx="12192000" cy="6858000"/>
          </a:xfrm>
          <a:prstGeom prst="rtTriangle">
            <a:avLst/>
          </a:prstGeom>
          <a:solidFill>
            <a:srgbClr val="80360F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D63C47-2A0D-8727-9F3A-5576A6F4C7F6}"/>
              </a:ext>
            </a:extLst>
          </p:cNvPr>
          <p:cNvSpPr txBox="1"/>
          <p:nvPr/>
        </p:nvSpPr>
        <p:spPr>
          <a:xfrm>
            <a:off x="84667" y="0"/>
            <a:ext cx="7128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What is the application about?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2DB6F-D6C7-16CD-C0D3-41B3B373C2B0}"/>
              </a:ext>
            </a:extLst>
          </p:cNvPr>
          <p:cNvSpPr txBox="1"/>
          <p:nvPr/>
        </p:nvSpPr>
        <p:spPr>
          <a:xfrm>
            <a:off x="84667" y="846666"/>
            <a:ext cx="6637867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/>
              <a:t>Pet Connect </a:t>
            </a:r>
            <a:r>
              <a:rPr lang="en-GB" sz="2000" dirty="0"/>
              <a:t>is a web application that allows users to:</a:t>
            </a:r>
          </a:p>
          <a:p>
            <a:pPr marL="285750" indent="-285750">
              <a:lnSpc>
                <a:spcPct val="150000"/>
              </a:lnSpc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000" dirty="0"/>
              <a:t>Create personal profiles</a:t>
            </a:r>
          </a:p>
          <a:p>
            <a:pPr marL="285750" indent="-285750">
              <a:lnSpc>
                <a:spcPct val="150000"/>
              </a:lnSpc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000" dirty="0"/>
              <a:t>Share posts </a:t>
            </a:r>
          </a:p>
          <a:p>
            <a:pPr marL="285750" indent="-285750">
              <a:lnSpc>
                <a:spcPct val="150000"/>
              </a:lnSpc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000" dirty="0"/>
              <a:t>Add and manage friends</a:t>
            </a:r>
          </a:p>
          <a:p>
            <a:pPr marL="285750" indent="-285750">
              <a:lnSpc>
                <a:spcPct val="150000"/>
              </a:lnSpc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000" dirty="0"/>
              <a:t>View a global feed</a:t>
            </a:r>
          </a:p>
          <a:p>
            <a:pPr marL="285750" indent="-285750">
              <a:lnSpc>
                <a:spcPct val="150000"/>
              </a:lnSpc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000" dirty="0"/>
              <a:t>Create Pet Alerts for lost animals</a:t>
            </a:r>
          </a:p>
          <a:p>
            <a:pPr marL="285750" indent="-285750">
              <a:lnSpc>
                <a:spcPct val="150000"/>
              </a:lnSpc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000" dirty="0"/>
              <a:t>Create Meetups </a:t>
            </a:r>
            <a:endParaRPr lang="en-GB" dirty="0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B82A64F-B5A4-0EDE-0A51-FF7BF62CC05D}"/>
              </a:ext>
            </a:extLst>
          </p:cNvPr>
          <p:cNvSpPr/>
          <p:nvPr/>
        </p:nvSpPr>
        <p:spPr>
          <a:xfrm flipH="1">
            <a:off x="-118535" y="0"/>
            <a:ext cx="12310534" cy="6858000"/>
          </a:xfrm>
          <a:prstGeom prst="rtTriangle">
            <a:avLst/>
          </a:prstGeom>
          <a:solidFill>
            <a:srgbClr val="D39965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FE9311-AB25-D1B7-238E-14D32EBB7C8D}"/>
              </a:ext>
            </a:extLst>
          </p:cNvPr>
          <p:cNvSpPr txBox="1"/>
          <p:nvPr/>
        </p:nvSpPr>
        <p:spPr>
          <a:xfrm>
            <a:off x="5300134" y="6311837"/>
            <a:ext cx="7306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Why did we choose this application?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798DEC-AD7B-AD06-CACE-FEC67C65D96F}"/>
              </a:ext>
            </a:extLst>
          </p:cNvPr>
          <p:cNvSpPr txBox="1"/>
          <p:nvPr/>
        </p:nvSpPr>
        <p:spPr>
          <a:xfrm>
            <a:off x="6299198" y="3513078"/>
            <a:ext cx="56726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We chose to build this application because: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000" dirty="0"/>
              <a:t>Social networks are complex real-world systems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000" dirty="0"/>
              <a:t>It combines </a:t>
            </a:r>
            <a:r>
              <a:rPr lang="en-GB" sz="2000" b="1" dirty="0"/>
              <a:t>frontend + backend + database</a:t>
            </a:r>
            <a:endParaRPr lang="en-GB" sz="2000" dirty="0"/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000" dirty="0"/>
              <a:t>It solves a </a:t>
            </a:r>
            <a:r>
              <a:rPr lang="en-GB" sz="2000" b="1" dirty="0"/>
              <a:t>real problem</a:t>
            </a:r>
            <a:r>
              <a:rPr lang="en-GB" sz="2000" dirty="0"/>
              <a:t> for pet owners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000" dirty="0"/>
              <a:t>It allowed us to practice:</a:t>
            </a:r>
          </a:p>
          <a:p>
            <a:r>
              <a:rPr lang="en-GB" sz="2000" dirty="0"/>
              <a:t>        -Authentication &amp; authorization</a:t>
            </a:r>
          </a:p>
          <a:p>
            <a:pPr lvl="1"/>
            <a:r>
              <a:rPr lang="en-GB" sz="2000" dirty="0"/>
              <a:t>-Component-based frontend design</a:t>
            </a:r>
          </a:p>
          <a:p>
            <a:pPr lvl="1"/>
            <a:r>
              <a:rPr lang="en-GB" sz="2000" dirty="0"/>
              <a:t>-Database relationships (users, posts, friends)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0433690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378A5A-57F0-9F31-198D-6E5B82B65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>
            <a:extLst>
              <a:ext uri="{FF2B5EF4-FFF2-40B4-BE49-F238E27FC236}">
                <a16:creationId xmlns:a16="http://schemas.microsoft.com/office/drawing/2014/main" id="{BFFAA5C2-5D25-25F3-7268-F4AE98298011}"/>
              </a:ext>
            </a:extLst>
          </p:cNvPr>
          <p:cNvSpPr/>
          <p:nvPr/>
        </p:nvSpPr>
        <p:spPr>
          <a:xfrm rot="10800000" flipH="1">
            <a:off x="-33867" y="0"/>
            <a:ext cx="12192000" cy="6858000"/>
          </a:xfrm>
          <a:prstGeom prst="rtTriangle">
            <a:avLst/>
          </a:prstGeom>
          <a:solidFill>
            <a:srgbClr val="80360F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BCEA4E-721C-4CAD-3C63-AEC7ACE3C1EF}"/>
              </a:ext>
            </a:extLst>
          </p:cNvPr>
          <p:cNvSpPr txBox="1"/>
          <p:nvPr/>
        </p:nvSpPr>
        <p:spPr>
          <a:xfrm>
            <a:off x="84667" y="0"/>
            <a:ext cx="934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What problem does it solve? (Target audience)</a:t>
            </a: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286931A0-1154-0116-B99E-78931FB4D030}"/>
              </a:ext>
            </a:extLst>
          </p:cNvPr>
          <p:cNvSpPr/>
          <p:nvPr/>
        </p:nvSpPr>
        <p:spPr>
          <a:xfrm flipH="1">
            <a:off x="-118535" y="0"/>
            <a:ext cx="12310534" cy="6858000"/>
          </a:xfrm>
          <a:prstGeom prst="rtTriangle">
            <a:avLst/>
          </a:prstGeom>
          <a:solidFill>
            <a:srgbClr val="D39965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1DD6B3-478C-6BE5-C901-FB1E95AB65A8}"/>
              </a:ext>
            </a:extLst>
          </p:cNvPr>
          <p:cNvSpPr txBox="1"/>
          <p:nvPr/>
        </p:nvSpPr>
        <p:spPr>
          <a:xfrm>
            <a:off x="5503333" y="3852333"/>
            <a:ext cx="6383867" cy="2319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B0984EB-149E-BA6B-8784-8E3B5F292D4D}"/>
              </a:ext>
            </a:extLst>
          </p:cNvPr>
          <p:cNvSpPr/>
          <p:nvPr/>
        </p:nvSpPr>
        <p:spPr>
          <a:xfrm>
            <a:off x="660399" y="790202"/>
            <a:ext cx="2802467" cy="3835400"/>
          </a:xfrm>
          <a:prstGeom prst="roundRect">
            <a:avLst/>
          </a:prstGeom>
          <a:solidFill>
            <a:srgbClr val="D39965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0C947F-7F26-0327-A2F0-EE9C13637C38}"/>
              </a:ext>
            </a:extLst>
          </p:cNvPr>
          <p:cNvSpPr/>
          <p:nvPr/>
        </p:nvSpPr>
        <p:spPr>
          <a:xfrm>
            <a:off x="4470399" y="1790762"/>
            <a:ext cx="2802467" cy="3835400"/>
          </a:xfrm>
          <a:prstGeom prst="roundRect">
            <a:avLst/>
          </a:prstGeom>
          <a:solidFill>
            <a:srgbClr val="A96132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7787D7C-6CE0-831C-B3A7-349EF9E6E3A4}"/>
              </a:ext>
            </a:extLst>
          </p:cNvPr>
          <p:cNvSpPr/>
          <p:nvPr/>
        </p:nvSpPr>
        <p:spPr>
          <a:xfrm>
            <a:off x="8492065" y="2748166"/>
            <a:ext cx="2802467" cy="3835400"/>
          </a:xfrm>
          <a:prstGeom prst="roundRect">
            <a:avLst/>
          </a:prstGeom>
          <a:solidFill>
            <a:srgbClr val="80360F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2143D4-B4E8-85B7-726E-8D6F2CCEACC5}"/>
              </a:ext>
            </a:extLst>
          </p:cNvPr>
          <p:cNvSpPr txBox="1"/>
          <p:nvPr/>
        </p:nvSpPr>
        <p:spPr>
          <a:xfrm>
            <a:off x="804334" y="870729"/>
            <a:ext cx="2658532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/>
              <a:t>Problem:</a:t>
            </a:r>
          </a:p>
          <a:p>
            <a:r>
              <a:rPr lang="en-GB" sz="2200" dirty="0"/>
              <a:t>Pet owners often lack a </a:t>
            </a:r>
            <a:r>
              <a:rPr lang="en-GB" sz="2200" b="1" dirty="0"/>
              <a:t>central place</a:t>
            </a:r>
            <a:r>
              <a:rPr lang="en-GB" sz="2200" dirty="0"/>
              <a:t> to:</a:t>
            </a:r>
          </a:p>
          <a:p>
            <a:pPr marL="285750" indent="-28575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200" dirty="0"/>
              <a:t>Connect with other pet owners</a:t>
            </a:r>
          </a:p>
          <a:p>
            <a:pPr marL="285750" indent="-28575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200" dirty="0"/>
              <a:t>Share pet-related experiences</a:t>
            </a:r>
          </a:p>
          <a:p>
            <a:pPr marL="285750" indent="-28575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200" dirty="0"/>
              <a:t>Quickly alert others about lost pets</a:t>
            </a:r>
          </a:p>
          <a:p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5C59E5-32C1-C816-694A-04AF1DDDAD6F}"/>
              </a:ext>
            </a:extLst>
          </p:cNvPr>
          <p:cNvSpPr txBox="1"/>
          <p:nvPr/>
        </p:nvSpPr>
        <p:spPr>
          <a:xfrm>
            <a:off x="4682065" y="2313950"/>
            <a:ext cx="248920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/>
              <a:t>Solution:</a:t>
            </a:r>
          </a:p>
          <a:p>
            <a:pPr marL="285750" indent="-28575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200" dirty="0"/>
              <a:t>A social platform focused on pets</a:t>
            </a:r>
          </a:p>
          <a:p>
            <a:pPr marL="285750" indent="-28575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200" dirty="0"/>
              <a:t>Fast sharing of alerts and posts</a:t>
            </a:r>
          </a:p>
          <a:p>
            <a:pPr marL="285750" indent="-28575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200" dirty="0"/>
              <a:t>Community-driven interaction</a:t>
            </a:r>
          </a:p>
          <a:p>
            <a:endParaRPr lang="en-GB" sz="2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4B1928-97BE-A085-B9B3-87D3C34749E4}"/>
              </a:ext>
            </a:extLst>
          </p:cNvPr>
          <p:cNvSpPr txBox="1"/>
          <p:nvPr/>
        </p:nvSpPr>
        <p:spPr>
          <a:xfrm>
            <a:off x="8805331" y="3672576"/>
            <a:ext cx="217593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/>
              <a:t>Target Audience:</a:t>
            </a:r>
          </a:p>
          <a:p>
            <a:pPr marL="285750" indent="-28575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200" dirty="0"/>
              <a:t>Pet owners</a:t>
            </a:r>
          </a:p>
          <a:p>
            <a:pPr marL="285750" indent="-28575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200" dirty="0"/>
              <a:t>Animal lovers</a:t>
            </a:r>
          </a:p>
          <a:p>
            <a:pPr marL="285750" indent="-28575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200" dirty="0"/>
              <a:t>Local communities</a:t>
            </a:r>
          </a:p>
          <a:p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40261913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B53CC5-5B61-3B0F-BD2E-0925D3E30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>
            <a:extLst>
              <a:ext uri="{FF2B5EF4-FFF2-40B4-BE49-F238E27FC236}">
                <a16:creationId xmlns:a16="http://schemas.microsoft.com/office/drawing/2014/main" id="{CD847CDC-DB37-9A1D-3536-E4897903FEFE}"/>
              </a:ext>
            </a:extLst>
          </p:cNvPr>
          <p:cNvSpPr/>
          <p:nvPr/>
        </p:nvSpPr>
        <p:spPr>
          <a:xfrm rot="10800000" flipH="1">
            <a:off x="0" y="0"/>
            <a:ext cx="12192000" cy="6858000"/>
          </a:xfrm>
          <a:prstGeom prst="rtTriangle">
            <a:avLst/>
          </a:prstGeom>
          <a:solidFill>
            <a:srgbClr val="80360F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C1E64D-E3D1-A3FE-F0FE-EC1DF77DBA9D}"/>
              </a:ext>
            </a:extLst>
          </p:cNvPr>
          <p:cNvSpPr txBox="1"/>
          <p:nvPr/>
        </p:nvSpPr>
        <p:spPr>
          <a:xfrm>
            <a:off x="84667" y="0"/>
            <a:ext cx="934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Core Features (What can the app do?)</a:t>
            </a: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B007AF81-B461-184F-15CC-A073D3AB72BD}"/>
              </a:ext>
            </a:extLst>
          </p:cNvPr>
          <p:cNvSpPr/>
          <p:nvPr/>
        </p:nvSpPr>
        <p:spPr>
          <a:xfrm flipH="1">
            <a:off x="-118535" y="0"/>
            <a:ext cx="12310534" cy="6858000"/>
          </a:xfrm>
          <a:prstGeom prst="rtTriangle">
            <a:avLst/>
          </a:prstGeom>
          <a:solidFill>
            <a:srgbClr val="D39965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F9D248-0082-2A53-D5F0-B26983246125}"/>
              </a:ext>
            </a:extLst>
          </p:cNvPr>
          <p:cNvSpPr txBox="1"/>
          <p:nvPr/>
        </p:nvSpPr>
        <p:spPr>
          <a:xfrm>
            <a:off x="5503333" y="3852333"/>
            <a:ext cx="6383867" cy="2319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F3409BA-EEC3-8AD1-DE2F-9B8519274056}"/>
              </a:ext>
            </a:extLst>
          </p:cNvPr>
          <p:cNvSpPr/>
          <p:nvPr/>
        </p:nvSpPr>
        <p:spPr>
          <a:xfrm>
            <a:off x="84667" y="633659"/>
            <a:ext cx="6480000" cy="589194"/>
          </a:xfrm>
          <a:prstGeom prst="roundRect">
            <a:avLst/>
          </a:prstGeom>
          <a:solidFill>
            <a:srgbClr val="D39965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030D896-D1DD-0132-63E4-0319EF036A18}"/>
              </a:ext>
            </a:extLst>
          </p:cNvPr>
          <p:cNvSpPr/>
          <p:nvPr/>
        </p:nvSpPr>
        <p:spPr>
          <a:xfrm>
            <a:off x="1905002" y="2724737"/>
            <a:ext cx="6480000" cy="589194"/>
          </a:xfrm>
          <a:prstGeom prst="roundRect">
            <a:avLst/>
          </a:prstGeom>
          <a:solidFill>
            <a:srgbClr val="A96132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C32CCA5-A814-6832-95B1-3BE569A187E6}"/>
              </a:ext>
            </a:extLst>
          </p:cNvPr>
          <p:cNvSpPr/>
          <p:nvPr/>
        </p:nvSpPr>
        <p:spPr>
          <a:xfrm>
            <a:off x="5503333" y="6145650"/>
            <a:ext cx="6480000" cy="590400"/>
          </a:xfrm>
          <a:prstGeom prst="roundRect">
            <a:avLst/>
          </a:prstGeom>
          <a:solidFill>
            <a:srgbClr val="80360F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723D978-02E0-1574-2B35-100105744280}"/>
              </a:ext>
            </a:extLst>
          </p:cNvPr>
          <p:cNvSpPr/>
          <p:nvPr/>
        </p:nvSpPr>
        <p:spPr>
          <a:xfrm>
            <a:off x="622297" y="1319503"/>
            <a:ext cx="6480000" cy="589194"/>
          </a:xfrm>
          <a:prstGeom prst="roundRect">
            <a:avLst/>
          </a:prstGeom>
          <a:solidFill>
            <a:srgbClr val="D39965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BCFCCD6-A981-105C-DCFE-314E24F29A63}"/>
              </a:ext>
            </a:extLst>
          </p:cNvPr>
          <p:cNvSpPr/>
          <p:nvPr/>
        </p:nvSpPr>
        <p:spPr>
          <a:xfrm>
            <a:off x="1231899" y="2003843"/>
            <a:ext cx="6480000" cy="589194"/>
          </a:xfrm>
          <a:prstGeom prst="roundRect">
            <a:avLst/>
          </a:prstGeom>
          <a:solidFill>
            <a:srgbClr val="D39965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A4A2988-7CC3-BB7B-0CEB-ADCEED96A7A8}"/>
              </a:ext>
            </a:extLst>
          </p:cNvPr>
          <p:cNvSpPr/>
          <p:nvPr/>
        </p:nvSpPr>
        <p:spPr>
          <a:xfrm>
            <a:off x="3390900" y="4098468"/>
            <a:ext cx="6480000" cy="589194"/>
          </a:xfrm>
          <a:prstGeom prst="roundRect">
            <a:avLst/>
          </a:prstGeom>
          <a:solidFill>
            <a:srgbClr val="A96132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7FC4F1F-C5CD-7829-5E8E-0EBDB79C4D97}"/>
              </a:ext>
            </a:extLst>
          </p:cNvPr>
          <p:cNvSpPr/>
          <p:nvPr/>
        </p:nvSpPr>
        <p:spPr>
          <a:xfrm>
            <a:off x="2688167" y="3429000"/>
            <a:ext cx="6480000" cy="589194"/>
          </a:xfrm>
          <a:prstGeom prst="roundRect">
            <a:avLst/>
          </a:prstGeom>
          <a:solidFill>
            <a:srgbClr val="A96132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EAE3FD4-52D7-7BAB-E799-9A7C826F0386}"/>
              </a:ext>
            </a:extLst>
          </p:cNvPr>
          <p:cNvSpPr/>
          <p:nvPr/>
        </p:nvSpPr>
        <p:spPr>
          <a:xfrm>
            <a:off x="4889501" y="5455913"/>
            <a:ext cx="6480000" cy="590400"/>
          </a:xfrm>
          <a:prstGeom prst="roundRect">
            <a:avLst/>
          </a:prstGeom>
          <a:solidFill>
            <a:srgbClr val="80360F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E2CF3E8-FC43-9DA0-410C-222B62AB7108}"/>
              </a:ext>
            </a:extLst>
          </p:cNvPr>
          <p:cNvSpPr/>
          <p:nvPr/>
        </p:nvSpPr>
        <p:spPr>
          <a:xfrm>
            <a:off x="4148666" y="4792214"/>
            <a:ext cx="6480000" cy="590400"/>
          </a:xfrm>
          <a:prstGeom prst="roundRect">
            <a:avLst/>
          </a:prstGeom>
          <a:solidFill>
            <a:srgbClr val="80360F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19F1F0-0E19-3710-FD93-221861E0E26F}"/>
              </a:ext>
            </a:extLst>
          </p:cNvPr>
          <p:cNvSpPr txBox="1"/>
          <p:nvPr/>
        </p:nvSpPr>
        <p:spPr>
          <a:xfrm>
            <a:off x="347134" y="668415"/>
            <a:ext cx="5952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User registration &amp; login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5DFE7C-AB26-D0BF-452A-98B75AAAF1F3}"/>
              </a:ext>
            </a:extLst>
          </p:cNvPr>
          <p:cNvSpPr txBox="1"/>
          <p:nvPr/>
        </p:nvSpPr>
        <p:spPr>
          <a:xfrm>
            <a:off x="1049868" y="1376215"/>
            <a:ext cx="5799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User profiles with bio and profile picture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B17F30-FB2A-538F-4AF3-04BE0B34B5C7}"/>
              </a:ext>
            </a:extLst>
          </p:cNvPr>
          <p:cNvSpPr txBox="1"/>
          <p:nvPr/>
        </p:nvSpPr>
        <p:spPr>
          <a:xfrm>
            <a:off x="1924050" y="2059743"/>
            <a:ext cx="50956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Create, view, and delete posts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B1AEE-F3DA-11BB-FB9D-3E05B0E73622}"/>
              </a:ext>
            </a:extLst>
          </p:cNvPr>
          <p:cNvSpPr txBox="1"/>
          <p:nvPr/>
        </p:nvSpPr>
        <p:spPr>
          <a:xfrm>
            <a:off x="2980266" y="2779743"/>
            <a:ext cx="4529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Global feed (all users)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E86B80-FBD5-459E-CF28-ADD41AEF48D2}"/>
              </a:ext>
            </a:extLst>
          </p:cNvPr>
          <p:cNvSpPr txBox="1"/>
          <p:nvPr/>
        </p:nvSpPr>
        <p:spPr>
          <a:xfrm>
            <a:off x="3104533" y="3487478"/>
            <a:ext cx="5647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Friend system (add / remove friends)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3AA924-5970-2EE1-53E8-8B5C83519F79}"/>
              </a:ext>
            </a:extLst>
          </p:cNvPr>
          <p:cNvSpPr txBox="1"/>
          <p:nvPr/>
        </p:nvSpPr>
        <p:spPr>
          <a:xfrm>
            <a:off x="4726649" y="4181289"/>
            <a:ext cx="38085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Friend list page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69AE17-63FB-9478-72D0-6F0E2B1FA666}"/>
              </a:ext>
            </a:extLst>
          </p:cNvPr>
          <p:cNvSpPr txBox="1"/>
          <p:nvPr/>
        </p:nvSpPr>
        <p:spPr>
          <a:xfrm>
            <a:off x="3965398" y="4856581"/>
            <a:ext cx="6852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Pet alerts with delete option for the owner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97CAA1-1211-F635-CE19-F6B3F0CEF900}"/>
              </a:ext>
            </a:extLst>
          </p:cNvPr>
          <p:cNvSpPr txBox="1"/>
          <p:nvPr/>
        </p:nvSpPr>
        <p:spPr>
          <a:xfrm>
            <a:off x="5509330" y="5496577"/>
            <a:ext cx="530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Meetups where everyone can participate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6CE185-7D07-A16B-7CC9-562C783BEAFE}"/>
              </a:ext>
            </a:extLst>
          </p:cNvPr>
          <p:cNvSpPr txBox="1"/>
          <p:nvPr/>
        </p:nvSpPr>
        <p:spPr>
          <a:xfrm>
            <a:off x="6299201" y="6205640"/>
            <a:ext cx="510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Live navigation using Angular routing</a:t>
            </a:r>
          </a:p>
        </p:txBody>
      </p:sp>
    </p:spTree>
    <p:extLst>
      <p:ext uri="{BB962C8B-B14F-4D97-AF65-F5344CB8AC3E}">
        <p14:creationId xmlns:p14="http://schemas.microsoft.com/office/powerpoint/2010/main" val="9732622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009928-836C-5755-FECF-D0C6D93DE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>
            <a:extLst>
              <a:ext uri="{FF2B5EF4-FFF2-40B4-BE49-F238E27FC236}">
                <a16:creationId xmlns:a16="http://schemas.microsoft.com/office/drawing/2014/main" id="{C43665A6-9B75-9ACB-EE78-1B09554643BC}"/>
              </a:ext>
            </a:extLst>
          </p:cNvPr>
          <p:cNvSpPr/>
          <p:nvPr/>
        </p:nvSpPr>
        <p:spPr>
          <a:xfrm rot="10800000" flipH="1">
            <a:off x="-33867" y="0"/>
            <a:ext cx="12192000" cy="6858000"/>
          </a:xfrm>
          <a:prstGeom prst="rtTriangle">
            <a:avLst/>
          </a:prstGeom>
          <a:solidFill>
            <a:srgbClr val="80360F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2441E6-B476-DA29-D76F-5343732CBC69}"/>
              </a:ext>
            </a:extLst>
          </p:cNvPr>
          <p:cNvSpPr txBox="1"/>
          <p:nvPr/>
        </p:nvSpPr>
        <p:spPr>
          <a:xfrm>
            <a:off x="84667" y="0"/>
            <a:ext cx="934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Application Architecture</a:t>
            </a: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091A1362-5F84-96CA-45F4-3D9872D6F7BC}"/>
              </a:ext>
            </a:extLst>
          </p:cNvPr>
          <p:cNvSpPr/>
          <p:nvPr/>
        </p:nvSpPr>
        <p:spPr>
          <a:xfrm flipH="1">
            <a:off x="-118535" y="0"/>
            <a:ext cx="12310534" cy="6858000"/>
          </a:xfrm>
          <a:prstGeom prst="rtTriangle">
            <a:avLst/>
          </a:prstGeom>
          <a:solidFill>
            <a:srgbClr val="D39965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680466-AE4F-2945-F6AB-2D397307A399}"/>
              </a:ext>
            </a:extLst>
          </p:cNvPr>
          <p:cNvSpPr txBox="1"/>
          <p:nvPr/>
        </p:nvSpPr>
        <p:spPr>
          <a:xfrm>
            <a:off x="5503333" y="3852333"/>
            <a:ext cx="6383867" cy="2319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F1D576-9F26-690C-6A6D-55BCD30FAAB2}"/>
              </a:ext>
            </a:extLst>
          </p:cNvPr>
          <p:cNvSpPr/>
          <p:nvPr/>
        </p:nvSpPr>
        <p:spPr>
          <a:xfrm>
            <a:off x="660399" y="790202"/>
            <a:ext cx="2802467" cy="3835400"/>
          </a:xfrm>
          <a:prstGeom prst="roundRect">
            <a:avLst/>
          </a:prstGeom>
          <a:solidFill>
            <a:srgbClr val="D39965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5C9BE0-67E1-C7CB-EAA9-3778B495B201}"/>
              </a:ext>
            </a:extLst>
          </p:cNvPr>
          <p:cNvSpPr/>
          <p:nvPr/>
        </p:nvSpPr>
        <p:spPr>
          <a:xfrm>
            <a:off x="4470399" y="1790762"/>
            <a:ext cx="2802467" cy="3835400"/>
          </a:xfrm>
          <a:prstGeom prst="roundRect">
            <a:avLst/>
          </a:prstGeom>
          <a:solidFill>
            <a:srgbClr val="A96132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A5DA63F-383E-284D-D911-1B7504DEAE6B}"/>
              </a:ext>
            </a:extLst>
          </p:cNvPr>
          <p:cNvSpPr/>
          <p:nvPr/>
        </p:nvSpPr>
        <p:spPr>
          <a:xfrm>
            <a:off x="8492065" y="2748166"/>
            <a:ext cx="2802467" cy="3835400"/>
          </a:xfrm>
          <a:prstGeom prst="roundRect">
            <a:avLst/>
          </a:prstGeom>
          <a:solidFill>
            <a:srgbClr val="80360F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BC752E-E094-D6C9-89B1-D89AA3A22B56}"/>
              </a:ext>
            </a:extLst>
          </p:cNvPr>
          <p:cNvSpPr txBox="1"/>
          <p:nvPr/>
        </p:nvSpPr>
        <p:spPr>
          <a:xfrm>
            <a:off x="804334" y="1456585"/>
            <a:ext cx="265853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1.Frontend (Angular)</a:t>
            </a:r>
            <a:endParaRPr lang="en-GB" sz="2400" dirty="0"/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UI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Routing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API communication</a:t>
            </a:r>
          </a:p>
          <a:p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3CBFCC-4A0B-CD51-564B-47D5DEAE3DAC}"/>
              </a:ext>
            </a:extLst>
          </p:cNvPr>
          <p:cNvSpPr txBox="1"/>
          <p:nvPr/>
        </p:nvSpPr>
        <p:spPr>
          <a:xfrm>
            <a:off x="4682065" y="2623681"/>
            <a:ext cx="2489202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2.Backend (Spring Boot)</a:t>
            </a:r>
            <a:endParaRPr lang="en-GB" sz="2400" dirty="0"/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REST API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Business logic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Authentication</a:t>
            </a:r>
          </a:p>
          <a:p>
            <a:endParaRPr lang="en-GB" sz="2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CE66AF-74C7-885F-B6E0-8F26974043F6}"/>
              </a:ext>
            </a:extLst>
          </p:cNvPr>
          <p:cNvSpPr txBox="1"/>
          <p:nvPr/>
        </p:nvSpPr>
        <p:spPr>
          <a:xfrm>
            <a:off x="8508998" y="3926927"/>
            <a:ext cx="280246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3.Database (MySQL)</a:t>
            </a:r>
            <a:endParaRPr lang="en-GB" sz="2400" dirty="0"/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Stores users, posts, friendships, alerts</a:t>
            </a:r>
          </a:p>
          <a:p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21768136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DA0AE7-5152-A67F-A85C-F11942A13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>
            <a:extLst>
              <a:ext uri="{FF2B5EF4-FFF2-40B4-BE49-F238E27FC236}">
                <a16:creationId xmlns:a16="http://schemas.microsoft.com/office/drawing/2014/main" id="{38AAE360-D78C-E974-A36D-A0AFE406C0C4}"/>
              </a:ext>
            </a:extLst>
          </p:cNvPr>
          <p:cNvSpPr/>
          <p:nvPr/>
        </p:nvSpPr>
        <p:spPr>
          <a:xfrm rot="10800000" flipH="1">
            <a:off x="-33867" y="0"/>
            <a:ext cx="12192000" cy="6858000"/>
          </a:xfrm>
          <a:prstGeom prst="rtTriangle">
            <a:avLst/>
          </a:prstGeom>
          <a:solidFill>
            <a:srgbClr val="80360F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FC562A-123E-789D-DFE8-F5F21B41FC3F}"/>
              </a:ext>
            </a:extLst>
          </p:cNvPr>
          <p:cNvSpPr txBox="1"/>
          <p:nvPr/>
        </p:nvSpPr>
        <p:spPr>
          <a:xfrm>
            <a:off x="84667" y="0"/>
            <a:ext cx="934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Technologies Used</a:t>
            </a: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BF2220DC-2379-FE16-A7E4-05BD5F990377}"/>
              </a:ext>
            </a:extLst>
          </p:cNvPr>
          <p:cNvSpPr/>
          <p:nvPr/>
        </p:nvSpPr>
        <p:spPr>
          <a:xfrm flipH="1">
            <a:off x="-118535" y="0"/>
            <a:ext cx="12310534" cy="6858000"/>
          </a:xfrm>
          <a:prstGeom prst="rtTriangle">
            <a:avLst/>
          </a:prstGeom>
          <a:solidFill>
            <a:srgbClr val="D39965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E3CDB6-BF93-D0FB-25F0-393351E4C6D2}"/>
              </a:ext>
            </a:extLst>
          </p:cNvPr>
          <p:cNvSpPr txBox="1"/>
          <p:nvPr/>
        </p:nvSpPr>
        <p:spPr>
          <a:xfrm>
            <a:off x="5503333" y="3852333"/>
            <a:ext cx="6383867" cy="2319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9C8E4F5-AF8C-B5EF-B642-0E037CED234B}"/>
              </a:ext>
            </a:extLst>
          </p:cNvPr>
          <p:cNvSpPr/>
          <p:nvPr/>
        </p:nvSpPr>
        <p:spPr>
          <a:xfrm>
            <a:off x="372533" y="809175"/>
            <a:ext cx="2611966" cy="3542692"/>
          </a:xfrm>
          <a:prstGeom prst="roundRect">
            <a:avLst/>
          </a:prstGeom>
          <a:solidFill>
            <a:srgbClr val="D39965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8DC296-68FA-36D0-F5D2-CF3442A30301}"/>
              </a:ext>
            </a:extLst>
          </p:cNvPr>
          <p:cNvSpPr/>
          <p:nvPr/>
        </p:nvSpPr>
        <p:spPr>
          <a:xfrm>
            <a:off x="3530600" y="1608828"/>
            <a:ext cx="2421467" cy="3437305"/>
          </a:xfrm>
          <a:prstGeom prst="roundRect">
            <a:avLst/>
          </a:prstGeom>
          <a:solidFill>
            <a:srgbClr val="A96132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6009176-2495-48B2-176E-F66900A923E4}"/>
              </a:ext>
            </a:extLst>
          </p:cNvPr>
          <p:cNvSpPr/>
          <p:nvPr/>
        </p:nvSpPr>
        <p:spPr>
          <a:xfrm>
            <a:off x="6604001" y="2309958"/>
            <a:ext cx="2489202" cy="3437305"/>
          </a:xfrm>
          <a:prstGeom prst="roundRect">
            <a:avLst/>
          </a:prstGeom>
          <a:solidFill>
            <a:srgbClr val="80360F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B7D5C6-23D2-3CD8-6AE1-73580170B78E}"/>
              </a:ext>
            </a:extLst>
          </p:cNvPr>
          <p:cNvSpPr txBox="1"/>
          <p:nvPr/>
        </p:nvSpPr>
        <p:spPr>
          <a:xfrm>
            <a:off x="719670" y="1535702"/>
            <a:ext cx="265853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Frontend: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Angular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TypeScript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HTML / CSS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Bootstrap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BFE6A1-86F5-2E15-8E3B-439D45A302BE}"/>
              </a:ext>
            </a:extLst>
          </p:cNvPr>
          <p:cNvSpPr txBox="1"/>
          <p:nvPr/>
        </p:nvSpPr>
        <p:spPr>
          <a:xfrm>
            <a:off x="3606798" y="2188706"/>
            <a:ext cx="2489202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Backend: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Java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Spring Boot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Spring Security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Spring Data JPA</a:t>
            </a:r>
          </a:p>
          <a:p>
            <a:endParaRPr lang="en-GB" sz="2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B7D9BE-183D-104E-8431-AE805881CD90}"/>
              </a:ext>
            </a:extLst>
          </p:cNvPr>
          <p:cNvSpPr txBox="1"/>
          <p:nvPr/>
        </p:nvSpPr>
        <p:spPr>
          <a:xfrm>
            <a:off x="6942669" y="3166533"/>
            <a:ext cx="2489202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Database: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MySQL 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Hibernate (ORM)</a:t>
            </a:r>
          </a:p>
          <a:p>
            <a:endParaRPr lang="en-GB" sz="22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67C1246-16C9-AFD5-88BA-8EF75F28D445}"/>
              </a:ext>
            </a:extLst>
          </p:cNvPr>
          <p:cNvSpPr/>
          <p:nvPr/>
        </p:nvSpPr>
        <p:spPr>
          <a:xfrm>
            <a:off x="9550395" y="3005667"/>
            <a:ext cx="2489202" cy="3437305"/>
          </a:xfrm>
          <a:prstGeom prst="roundRect">
            <a:avLst/>
          </a:prstGeom>
          <a:solidFill>
            <a:srgbClr val="80360F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26E245-5880-8ACD-BE2B-787F9096BA96}"/>
              </a:ext>
            </a:extLst>
          </p:cNvPr>
          <p:cNvSpPr txBox="1"/>
          <p:nvPr/>
        </p:nvSpPr>
        <p:spPr>
          <a:xfrm>
            <a:off x="9753605" y="3474694"/>
            <a:ext cx="2218263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Other: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REST APIs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JWT Authentication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Git (Version Control)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95002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9B9076-E5B9-F44C-1696-F8D327A51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>
            <a:extLst>
              <a:ext uri="{FF2B5EF4-FFF2-40B4-BE49-F238E27FC236}">
                <a16:creationId xmlns:a16="http://schemas.microsoft.com/office/drawing/2014/main" id="{0C9B7E6B-FADE-81CB-C038-E8FC1FAB41E4}"/>
              </a:ext>
            </a:extLst>
          </p:cNvPr>
          <p:cNvSpPr/>
          <p:nvPr/>
        </p:nvSpPr>
        <p:spPr>
          <a:xfrm rot="10800000" flipH="1">
            <a:off x="-33867" y="0"/>
            <a:ext cx="12192000" cy="6858000"/>
          </a:xfrm>
          <a:prstGeom prst="rtTriangle">
            <a:avLst/>
          </a:prstGeom>
          <a:solidFill>
            <a:srgbClr val="80360F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5C5283-1D24-4DD3-69A3-2D52EEF0BB16}"/>
              </a:ext>
            </a:extLst>
          </p:cNvPr>
          <p:cNvSpPr txBox="1"/>
          <p:nvPr/>
        </p:nvSpPr>
        <p:spPr>
          <a:xfrm>
            <a:off x="84667" y="0"/>
            <a:ext cx="934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Core Data Structures</a:t>
            </a: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05052188-9B50-B009-38A1-EC64D5168BFC}"/>
              </a:ext>
            </a:extLst>
          </p:cNvPr>
          <p:cNvSpPr/>
          <p:nvPr/>
        </p:nvSpPr>
        <p:spPr>
          <a:xfrm flipH="1">
            <a:off x="-118535" y="0"/>
            <a:ext cx="12310534" cy="6858000"/>
          </a:xfrm>
          <a:prstGeom prst="rtTriangle">
            <a:avLst/>
          </a:prstGeom>
          <a:solidFill>
            <a:srgbClr val="D39965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9B93D1-0B6F-BA66-29C8-3EF2C016D097}"/>
              </a:ext>
            </a:extLst>
          </p:cNvPr>
          <p:cNvSpPr txBox="1"/>
          <p:nvPr/>
        </p:nvSpPr>
        <p:spPr>
          <a:xfrm>
            <a:off x="5503333" y="3852333"/>
            <a:ext cx="6383867" cy="2319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D8DF7F1-DCD8-3597-5DF8-8A544123D24E}"/>
              </a:ext>
            </a:extLst>
          </p:cNvPr>
          <p:cNvSpPr/>
          <p:nvPr/>
        </p:nvSpPr>
        <p:spPr>
          <a:xfrm>
            <a:off x="76870" y="685800"/>
            <a:ext cx="2880000" cy="3960000"/>
          </a:xfrm>
          <a:prstGeom prst="roundRect">
            <a:avLst/>
          </a:prstGeom>
          <a:solidFill>
            <a:srgbClr val="D39965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123E0C5-F4EE-DBB6-7F8E-D63BDC2CCFEC}"/>
              </a:ext>
            </a:extLst>
          </p:cNvPr>
          <p:cNvSpPr/>
          <p:nvPr/>
        </p:nvSpPr>
        <p:spPr>
          <a:xfrm>
            <a:off x="3156733" y="2764669"/>
            <a:ext cx="2880000" cy="3960000"/>
          </a:xfrm>
          <a:prstGeom prst="roundRect">
            <a:avLst/>
          </a:prstGeom>
          <a:solidFill>
            <a:srgbClr val="A96132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661630E-54D4-BAC5-E3EF-4709F788F448}"/>
              </a:ext>
            </a:extLst>
          </p:cNvPr>
          <p:cNvSpPr/>
          <p:nvPr/>
        </p:nvSpPr>
        <p:spPr>
          <a:xfrm>
            <a:off x="6236596" y="685800"/>
            <a:ext cx="2880000" cy="3960000"/>
          </a:xfrm>
          <a:prstGeom prst="roundRect">
            <a:avLst/>
          </a:prstGeom>
          <a:solidFill>
            <a:srgbClr val="80360F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6408A6-B705-B3EB-58A5-667652ED8AE1}"/>
              </a:ext>
            </a:extLst>
          </p:cNvPr>
          <p:cNvSpPr txBox="1"/>
          <p:nvPr/>
        </p:nvSpPr>
        <p:spPr>
          <a:xfrm>
            <a:off x="220132" y="957640"/>
            <a:ext cx="26585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User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id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username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email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bio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 err="1"/>
              <a:t>profilePictureUrl</a:t>
            </a:r>
            <a:endParaRPr lang="en-GB" sz="2400" dirty="0"/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friends (many-to-many relationship)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4ED8F0-E9F7-BFAD-27EC-AC62FECDB46F}"/>
              </a:ext>
            </a:extLst>
          </p:cNvPr>
          <p:cNvSpPr txBox="1"/>
          <p:nvPr/>
        </p:nvSpPr>
        <p:spPr>
          <a:xfrm>
            <a:off x="3475345" y="3392855"/>
            <a:ext cx="2489202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Post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id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 err="1"/>
              <a:t>contentText</a:t>
            </a:r>
            <a:endParaRPr lang="en-GB" sz="2400" dirty="0"/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 err="1"/>
              <a:t>imageUrl</a:t>
            </a:r>
            <a:endParaRPr lang="en-GB" sz="2400" dirty="0"/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 err="1"/>
              <a:t>createdAt</a:t>
            </a:r>
            <a:endParaRPr lang="en-GB" sz="2400" dirty="0"/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user (many-to-one)</a:t>
            </a:r>
          </a:p>
          <a:p>
            <a:endParaRPr lang="en-GB" sz="2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0628F5-99B2-CC79-8129-763B7CABCE21}"/>
              </a:ext>
            </a:extLst>
          </p:cNvPr>
          <p:cNvSpPr txBox="1"/>
          <p:nvPr/>
        </p:nvSpPr>
        <p:spPr>
          <a:xfrm>
            <a:off x="6517998" y="1071898"/>
            <a:ext cx="2489202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err="1"/>
              <a:t>PetAlert</a:t>
            </a:r>
            <a:endParaRPr lang="en-GB" sz="2400" b="1" dirty="0"/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id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description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location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 err="1"/>
              <a:t>imageUrl</a:t>
            </a:r>
            <a:endParaRPr lang="en-GB" sz="2400" dirty="0"/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 err="1"/>
              <a:t>createdAt</a:t>
            </a:r>
            <a:endParaRPr lang="en-GB" sz="2400" dirty="0"/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user (owner)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reward</a:t>
            </a:r>
          </a:p>
          <a:p>
            <a:endParaRPr lang="en-GB" sz="22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C729330-394B-0443-4C2D-96A45E44A01C}"/>
              </a:ext>
            </a:extLst>
          </p:cNvPr>
          <p:cNvSpPr/>
          <p:nvPr/>
        </p:nvSpPr>
        <p:spPr>
          <a:xfrm>
            <a:off x="9235130" y="2811322"/>
            <a:ext cx="2880000" cy="3960000"/>
          </a:xfrm>
          <a:prstGeom prst="roundRect">
            <a:avLst/>
          </a:prstGeom>
          <a:solidFill>
            <a:srgbClr val="80360F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7AC686-8056-3EE3-841A-30165441ED60}"/>
              </a:ext>
            </a:extLst>
          </p:cNvPr>
          <p:cNvSpPr txBox="1"/>
          <p:nvPr/>
        </p:nvSpPr>
        <p:spPr>
          <a:xfrm>
            <a:off x="9431867" y="2995988"/>
            <a:ext cx="271579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Meetup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id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title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description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location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date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 err="1"/>
              <a:t>createdBy</a:t>
            </a:r>
            <a:r>
              <a:rPr lang="en-GB" sz="2400" dirty="0"/>
              <a:t> (User)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participants (many-to-many)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8804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26A17A-6589-E3F1-74DF-E474DD014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>
            <a:extLst>
              <a:ext uri="{FF2B5EF4-FFF2-40B4-BE49-F238E27FC236}">
                <a16:creationId xmlns:a16="http://schemas.microsoft.com/office/drawing/2014/main" id="{588FF265-561B-4990-5BEB-10543117F125}"/>
              </a:ext>
            </a:extLst>
          </p:cNvPr>
          <p:cNvSpPr/>
          <p:nvPr/>
        </p:nvSpPr>
        <p:spPr>
          <a:xfrm rot="10800000" flipH="1">
            <a:off x="-33867" y="0"/>
            <a:ext cx="12192000" cy="6858000"/>
          </a:xfrm>
          <a:prstGeom prst="rtTriangle">
            <a:avLst/>
          </a:prstGeom>
          <a:solidFill>
            <a:srgbClr val="80360F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460132-A676-2C16-5EEF-DB3846ACADB1}"/>
              </a:ext>
            </a:extLst>
          </p:cNvPr>
          <p:cNvSpPr txBox="1"/>
          <p:nvPr/>
        </p:nvSpPr>
        <p:spPr>
          <a:xfrm>
            <a:off x="84667" y="0"/>
            <a:ext cx="934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Design Patterns Used</a:t>
            </a: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0E1ECB34-074F-73A2-9B7F-632A400746F1}"/>
              </a:ext>
            </a:extLst>
          </p:cNvPr>
          <p:cNvSpPr/>
          <p:nvPr/>
        </p:nvSpPr>
        <p:spPr>
          <a:xfrm flipH="1">
            <a:off x="-118535" y="0"/>
            <a:ext cx="12310534" cy="6858000"/>
          </a:xfrm>
          <a:prstGeom prst="rtTriangle">
            <a:avLst/>
          </a:prstGeom>
          <a:solidFill>
            <a:srgbClr val="D39965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CD5669-671D-90E0-83AC-9F005019E0EF}"/>
              </a:ext>
            </a:extLst>
          </p:cNvPr>
          <p:cNvSpPr txBox="1"/>
          <p:nvPr/>
        </p:nvSpPr>
        <p:spPr>
          <a:xfrm>
            <a:off x="5503333" y="3852333"/>
            <a:ext cx="6383867" cy="2319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2212D55-CAB0-54DE-241C-7B39BD437E93}"/>
              </a:ext>
            </a:extLst>
          </p:cNvPr>
          <p:cNvSpPr/>
          <p:nvPr/>
        </p:nvSpPr>
        <p:spPr>
          <a:xfrm>
            <a:off x="660399" y="790202"/>
            <a:ext cx="2802467" cy="3835400"/>
          </a:xfrm>
          <a:prstGeom prst="roundRect">
            <a:avLst/>
          </a:prstGeom>
          <a:solidFill>
            <a:srgbClr val="D39965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2B03E5-118F-162C-EE24-AD6A50E7F980}"/>
              </a:ext>
            </a:extLst>
          </p:cNvPr>
          <p:cNvSpPr/>
          <p:nvPr/>
        </p:nvSpPr>
        <p:spPr>
          <a:xfrm>
            <a:off x="4470399" y="1790762"/>
            <a:ext cx="2802467" cy="3835400"/>
          </a:xfrm>
          <a:prstGeom prst="roundRect">
            <a:avLst/>
          </a:prstGeom>
          <a:solidFill>
            <a:srgbClr val="A96132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AF562A7-F482-0987-52F0-21ABDAF2B3EE}"/>
              </a:ext>
            </a:extLst>
          </p:cNvPr>
          <p:cNvSpPr/>
          <p:nvPr/>
        </p:nvSpPr>
        <p:spPr>
          <a:xfrm>
            <a:off x="8492065" y="2748166"/>
            <a:ext cx="2802467" cy="3835400"/>
          </a:xfrm>
          <a:prstGeom prst="roundRect">
            <a:avLst/>
          </a:prstGeom>
          <a:solidFill>
            <a:srgbClr val="80360F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E81971-9393-7BF4-1CE2-B070CBE5173E}"/>
              </a:ext>
            </a:extLst>
          </p:cNvPr>
          <p:cNvSpPr txBox="1"/>
          <p:nvPr/>
        </p:nvSpPr>
        <p:spPr>
          <a:xfrm>
            <a:off x="711202" y="972547"/>
            <a:ext cx="280246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MVC (Model–View–Controller)</a:t>
            </a:r>
            <a:endParaRPr lang="en-GB" sz="2400" dirty="0"/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Model: Entities (User, Post, Meetup)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View: Angular components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Controller: Spring REST controllers</a:t>
            </a:r>
          </a:p>
          <a:p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F2A886-FDCC-43F2-D341-729D2EE5A479}"/>
              </a:ext>
            </a:extLst>
          </p:cNvPr>
          <p:cNvSpPr txBox="1"/>
          <p:nvPr/>
        </p:nvSpPr>
        <p:spPr>
          <a:xfrm>
            <a:off x="4567765" y="1974895"/>
            <a:ext cx="2675469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DTO Pattern</a:t>
            </a:r>
            <a:endParaRPr lang="en-GB" sz="2400" dirty="0"/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Separates internal data models from API responses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Prevents infinite JSON recursion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Improves security</a:t>
            </a:r>
          </a:p>
          <a:p>
            <a:endParaRPr lang="en-GB" sz="2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94ACC8-BDF0-3597-3632-811B5983BE0B}"/>
              </a:ext>
            </a:extLst>
          </p:cNvPr>
          <p:cNvSpPr txBox="1"/>
          <p:nvPr/>
        </p:nvSpPr>
        <p:spPr>
          <a:xfrm>
            <a:off x="8521697" y="3525322"/>
            <a:ext cx="280246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Repository Pattern</a:t>
            </a:r>
            <a:endParaRPr lang="en-GB" sz="2400" dirty="0"/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Spring Data JPA repositories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Clean and reusable database access layer</a:t>
            </a:r>
          </a:p>
          <a:p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12048039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830888-B8C6-BB88-806F-A2648B27F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>
            <a:extLst>
              <a:ext uri="{FF2B5EF4-FFF2-40B4-BE49-F238E27FC236}">
                <a16:creationId xmlns:a16="http://schemas.microsoft.com/office/drawing/2014/main" id="{55F870A4-5D80-2D3D-53E7-EAFCF1DC500B}"/>
              </a:ext>
            </a:extLst>
          </p:cNvPr>
          <p:cNvSpPr/>
          <p:nvPr/>
        </p:nvSpPr>
        <p:spPr>
          <a:xfrm rot="10800000" flipH="1">
            <a:off x="-33867" y="0"/>
            <a:ext cx="12192000" cy="6858000"/>
          </a:xfrm>
          <a:prstGeom prst="rtTriangle">
            <a:avLst/>
          </a:prstGeom>
          <a:solidFill>
            <a:srgbClr val="80360F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4B8DBE-3C86-1571-233E-4C6C8300F980}"/>
              </a:ext>
            </a:extLst>
          </p:cNvPr>
          <p:cNvSpPr txBox="1"/>
          <p:nvPr/>
        </p:nvSpPr>
        <p:spPr>
          <a:xfrm>
            <a:off x="84667" y="0"/>
            <a:ext cx="934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How did we develop the project?</a:t>
            </a: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A1899C74-07B7-23FE-4C04-82E9616F2110}"/>
              </a:ext>
            </a:extLst>
          </p:cNvPr>
          <p:cNvSpPr/>
          <p:nvPr/>
        </p:nvSpPr>
        <p:spPr>
          <a:xfrm flipH="1">
            <a:off x="-118535" y="0"/>
            <a:ext cx="12310534" cy="6858000"/>
          </a:xfrm>
          <a:prstGeom prst="rtTriangle">
            <a:avLst/>
          </a:prstGeom>
          <a:solidFill>
            <a:srgbClr val="D39965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BC16D9-17AE-040A-4060-E42D55D505C2}"/>
              </a:ext>
            </a:extLst>
          </p:cNvPr>
          <p:cNvSpPr txBox="1"/>
          <p:nvPr/>
        </p:nvSpPr>
        <p:spPr>
          <a:xfrm>
            <a:off x="5503333" y="3852333"/>
            <a:ext cx="6383867" cy="2319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15F776D-1DCC-E1ED-C2EF-4E1554C5F3CE}"/>
              </a:ext>
            </a:extLst>
          </p:cNvPr>
          <p:cNvSpPr/>
          <p:nvPr/>
        </p:nvSpPr>
        <p:spPr>
          <a:xfrm>
            <a:off x="660399" y="790202"/>
            <a:ext cx="2802467" cy="3835400"/>
          </a:xfrm>
          <a:prstGeom prst="roundRect">
            <a:avLst/>
          </a:prstGeom>
          <a:solidFill>
            <a:srgbClr val="D39965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A738611-C4C0-0FFD-39DC-077C7568ED08}"/>
              </a:ext>
            </a:extLst>
          </p:cNvPr>
          <p:cNvSpPr/>
          <p:nvPr/>
        </p:nvSpPr>
        <p:spPr>
          <a:xfrm>
            <a:off x="4398429" y="1834465"/>
            <a:ext cx="2802467" cy="3835400"/>
          </a:xfrm>
          <a:prstGeom prst="roundRect">
            <a:avLst/>
          </a:prstGeom>
          <a:solidFill>
            <a:srgbClr val="A96132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33E4E4A-16B4-5787-BC1A-1AF98D85F0F9}"/>
              </a:ext>
            </a:extLst>
          </p:cNvPr>
          <p:cNvSpPr/>
          <p:nvPr/>
        </p:nvSpPr>
        <p:spPr>
          <a:xfrm>
            <a:off x="8492065" y="2748166"/>
            <a:ext cx="2802467" cy="3835400"/>
          </a:xfrm>
          <a:prstGeom prst="roundRect">
            <a:avLst/>
          </a:prstGeom>
          <a:solidFill>
            <a:srgbClr val="80360F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3AF4C7-00E9-6D6C-B295-2C14927FE872}"/>
              </a:ext>
            </a:extLst>
          </p:cNvPr>
          <p:cNvSpPr txBox="1"/>
          <p:nvPr/>
        </p:nvSpPr>
        <p:spPr>
          <a:xfrm>
            <a:off x="812800" y="1171319"/>
            <a:ext cx="28024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Frontend Development</a:t>
            </a:r>
            <a:endParaRPr lang="en-GB" sz="2400" dirty="0"/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Angular components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Routing (Profile, Feed, Friends, Meetups)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UI &amp; CSS styling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B56209-FBBE-03CA-C8E2-2EE9A2D6A55A}"/>
              </a:ext>
            </a:extLst>
          </p:cNvPr>
          <p:cNvSpPr txBox="1"/>
          <p:nvPr/>
        </p:nvSpPr>
        <p:spPr>
          <a:xfrm>
            <a:off x="4627029" y="2333686"/>
            <a:ext cx="2675469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Backend Development</a:t>
            </a:r>
            <a:endParaRPr lang="en-GB" sz="2400" dirty="0"/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REST APIs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Authentication &amp; authorization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Database relationships</a:t>
            </a:r>
          </a:p>
          <a:p>
            <a:endParaRPr lang="en-GB" sz="2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CA6137-2796-AD22-5A54-C2C75B4AF236}"/>
              </a:ext>
            </a:extLst>
          </p:cNvPr>
          <p:cNvSpPr txBox="1"/>
          <p:nvPr/>
        </p:nvSpPr>
        <p:spPr>
          <a:xfrm>
            <a:off x="8644463" y="3296722"/>
            <a:ext cx="2802467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Integration &amp; Testing</a:t>
            </a:r>
            <a:endParaRPr lang="en-GB" sz="2400" dirty="0"/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API consumption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Debugging serialization issues</a:t>
            </a:r>
          </a:p>
          <a:p>
            <a:pPr marL="342900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2400" dirty="0"/>
              <a:t>Error handling</a:t>
            </a:r>
          </a:p>
          <a:p>
            <a:endParaRPr lang="en-GB" sz="22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F3F3ABC-AC0B-5122-44D4-9E9264B62768}"/>
              </a:ext>
            </a:extLst>
          </p:cNvPr>
          <p:cNvSpPr/>
          <p:nvPr/>
        </p:nvSpPr>
        <p:spPr>
          <a:xfrm>
            <a:off x="719666" y="5445498"/>
            <a:ext cx="2980269" cy="1244600"/>
          </a:xfrm>
          <a:prstGeom prst="ellipse">
            <a:avLst/>
          </a:prstGeom>
          <a:solidFill>
            <a:srgbClr val="80360F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58C816F-47DA-2657-9736-32E5ED65A5E3}"/>
              </a:ext>
            </a:extLst>
          </p:cNvPr>
          <p:cNvSpPr/>
          <p:nvPr/>
        </p:nvSpPr>
        <p:spPr>
          <a:xfrm>
            <a:off x="8111064" y="229714"/>
            <a:ext cx="3183468" cy="1244600"/>
          </a:xfrm>
          <a:prstGeom prst="ellipse">
            <a:avLst/>
          </a:prstGeom>
          <a:solidFill>
            <a:srgbClr val="80360F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5E8F2D-3630-669A-EBDB-DD259E019560}"/>
              </a:ext>
            </a:extLst>
          </p:cNvPr>
          <p:cNvSpPr txBox="1"/>
          <p:nvPr/>
        </p:nvSpPr>
        <p:spPr>
          <a:xfrm>
            <a:off x="728135" y="5774267"/>
            <a:ext cx="302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Cercel Stefania Bianca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63B86D-77E6-2E17-7BC8-3D3FC39C7595}"/>
              </a:ext>
            </a:extLst>
          </p:cNvPr>
          <p:cNvSpPr txBox="1"/>
          <p:nvPr/>
        </p:nvSpPr>
        <p:spPr>
          <a:xfrm>
            <a:off x="8161863" y="598657"/>
            <a:ext cx="3285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Jurca Alexandra Cristina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5D8F432-E551-6E6B-C535-FAC5BBCFF6AD}"/>
              </a:ext>
            </a:extLst>
          </p:cNvPr>
          <p:cNvCxnSpPr>
            <a:cxnSpLocks/>
            <a:stCxn id="9" idx="2"/>
            <a:endCxn id="4" idx="0"/>
          </p:cNvCxnSpPr>
          <p:nvPr/>
        </p:nvCxnSpPr>
        <p:spPr>
          <a:xfrm flipH="1">
            <a:off x="5799663" y="852014"/>
            <a:ext cx="2311401" cy="98245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1016D98-5D1A-9E5A-90B1-72EA1B320F28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9702798" y="1474314"/>
            <a:ext cx="190501" cy="127385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B532317-F1B6-EEEE-7176-77101969FE0D}"/>
              </a:ext>
            </a:extLst>
          </p:cNvPr>
          <p:cNvCxnSpPr>
            <a:cxnSpLocks/>
            <a:stCxn id="7" idx="0"/>
            <a:endCxn id="3" idx="2"/>
          </p:cNvCxnSpPr>
          <p:nvPr/>
        </p:nvCxnSpPr>
        <p:spPr>
          <a:xfrm flipH="1" flipV="1">
            <a:off x="2061633" y="4625602"/>
            <a:ext cx="148168" cy="8198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8CDACF8-0928-D161-8DA2-7CAD74705476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750735" y="6005100"/>
            <a:ext cx="4760380" cy="10495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7517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490DBEDD-40CC-47BF-261F-DED4A64A55DE}"/>
              </a:ext>
            </a:extLst>
          </p:cNvPr>
          <p:cNvSpPr/>
          <p:nvPr/>
        </p:nvSpPr>
        <p:spPr>
          <a:xfrm>
            <a:off x="0" y="1"/>
            <a:ext cx="7543800" cy="1346200"/>
          </a:xfrm>
          <a:prstGeom prst="homePlate">
            <a:avLst/>
          </a:prstGeom>
          <a:solidFill>
            <a:srgbClr val="0D91AD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51749A-43B8-484E-F30E-4E211D8A908B}"/>
              </a:ext>
            </a:extLst>
          </p:cNvPr>
          <p:cNvSpPr txBox="1"/>
          <p:nvPr/>
        </p:nvSpPr>
        <p:spPr>
          <a:xfrm>
            <a:off x="1566333" y="84667"/>
            <a:ext cx="50884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2514744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466</Words>
  <Application>Microsoft Office PowerPoint</Application>
  <PresentationFormat>Widescreen</PresentationFormat>
  <Paragraphs>130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Pet Connect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cercel stefy</dc:creator>
  <cp:lastModifiedBy>cercel stefy</cp:lastModifiedBy>
  <cp:revision>1</cp:revision>
  <dcterms:created xsi:type="dcterms:W3CDTF">2026-01-19T09:11:45Z</dcterms:created>
  <dcterms:modified xsi:type="dcterms:W3CDTF">2026-01-19T10:11:11Z</dcterms:modified>
</cp:coreProperties>
</file>